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274" r:id="rId20"/>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485" r:id="rId233"/>
    <p:sldId id="486" r:id="rId234"/>
    <p:sldId id="487" r:id="rId235"/>
    <p:sldId id="488" r:id="rId236"/>
    <p:sldId id="489" r:id="rId237"/>
    <p:sldId id="490" r:id="rId238"/>
    <p:sldId id="491" r:id="rId239"/>
    <p:sldId id="492" r:id="rId240"/>
    <p:sldId id="493" r:id="rId241"/>
    <p:sldId id="494" r:id="rId242"/>
    <p:sldId id="495" r:id="rId243"/>
    <p:sldId id="496" r:id="rId244"/>
    <p:sldId id="497" r:id="rId245"/>
    <p:sldId id="317" r:id="rId63"/>
    <p:sldId id="498" r:id="rId246"/>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https://tertiarycourses.github.io/TGS-2023018659-Claude-Cowork-for-Digital-Marketing/"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18659-Claude-Cowork-for-Digital-Marketing/"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hyperlink" Target="https://exams.tertiaryinfotech.com/practice-exams/anthropic/anthropic-ccao-foundations" TargetMode="Externa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CODE  •  TGS-2023018659</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Claude Cowork</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Digital Marketing</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10.0  ·  11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10" name="Rounded Rectangle 9"/>
          <p:cNvSpPr/>
          <p:nvPr/>
        </p:nvSpPr>
        <p:spPr>
          <a:xfrm>
            <a:off x="822960" y="365760"/>
            <a:ext cx="3218688" cy="868680"/>
          </a:xfrm>
          <a:prstGeom prst="roundRect">
            <a:avLst>
              <a:gd name="adj" fmla="val 6000"/>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icture_5.png"/>
          <p:cNvPicPr>
            <a:picLocks noChangeAspect="1"/>
          </p:cNvPicPr>
          <p:nvPr/>
        </p:nvPicPr>
        <p:blipFill>
          <a:blip r:embed="rId3"/>
          <a:stretch>
            <a:fillRect/>
          </a:stretch>
        </p:blipFill>
        <p:spPr>
          <a:xfrm>
            <a:off x="1005840" y="484632"/>
            <a:ext cx="640080" cy="640080"/>
          </a:xfrm>
          <a:prstGeom prst="rect">
            <a:avLst/>
          </a:prstGeom>
        </p:spPr>
      </p:pic>
      <p:pic>
        <p:nvPicPr>
          <p:cNvPr id="12" name="Picture 11" descr="Picture_6.png"/>
          <p:cNvPicPr>
            <a:picLocks noChangeAspect="1"/>
          </p:cNvPicPr>
          <p:nvPr/>
        </p:nvPicPr>
        <p:blipFill>
          <a:blip r:embed="rId4"/>
          <a:stretch>
            <a:fillRect/>
          </a:stretch>
        </p:blipFill>
        <p:spPr>
          <a:xfrm>
            <a:off x="1783080" y="484632"/>
            <a:ext cx="1892807" cy="640080"/>
          </a:xfrm>
          <a:prstGeom prst="rect">
            <a:avLst/>
          </a:prstGeom>
        </p:spPr>
      </p:pic>
      <p:sp>
        <p:nvSpPr>
          <p:cNvPr id="13" name="TextBox 12"/>
          <p:cNvSpPr txBox="1"/>
          <p:nvPr/>
        </p:nvSpPr>
        <p:spPr>
          <a:xfrm>
            <a:off x="822960" y="4526280"/>
            <a:ext cx="9601200" cy="640080"/>
          </a:xfrm>
          <a:prstGeom prst="rect">
            <a:avLst/>
          </a:prstGeom>
          <a:noFill/>
        </p:spPr>
        <p:txBody>
          <a:bodyPr wrap="square" lIns="18288" rIns="18288" tIns="9144" bIns="9144">
            <a:spAutoFit/>
          </a:bodyPr>
          <a:lstStyle/>
          <a:p>
            <a:pPr>
              <a:lnSpc>
                <a:spcPct val="100000"/>
              </a:lnSpc>
              <a:defRPr sz="1300" b="0">
                <a:solidFill>
                  <a:srgbClr val="C9C4B9"/>
                </a:solidFill>
                <a:latin typeface="Calibri"/>
              </a:defRPr>
            </a:pPr>
            <a:r>
              <a:t>TGS-2023018659 · ICT-DIT-3016-1.1</a:t>
            </a:r>
          </a:p>
          <a:p>
            <a:pPr>
              <a:lnSpc>
                <a:spcPct val="100000"/>
              </a:lnSpc>
              <a:defRPr sz="1300" b="0">
                <a:solidFill>
                  <a:srgbClr val="C9C4B9"/>
                </a:solidFill>
                <a:latin typeface="Calibri"/>
              </a:defRPr>
            </a:pPr>
            <a:r>
              <a:t>2 days / 16 total hours · Training 13.5 h + WA 60 min + PP 90 min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and integrates AI marketing teams with Claude Cowork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marketing tools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3:30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1.5 hours</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3154679"/>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3291839"/>
            <a:ext cx="274320" cy="274320"/>
          </a:xfrm>
          <a:prstGeom prst="rect">
            <a:avLst/>
          </a:prstGeom>
        </p:spPr>
      </p:pic>
      <p:sp>
        <p:nvSpPr>
          <p:cNvPr id="7" name="Text 4"/>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3520439"/>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4343400"/>
            <a:ext cx="274320" cy="274320"/>
          </a:xfrm>
          <a:prstGeom prst="rect">
            <a:avLst/>
          </a:prstGeom>
        </p:spPr>
      </p:pic>
      <p:sp>
        <p:nvSpPr>
          <p:cNvPr id="11" name="Text 7"/>
          <p:cNvSpPr/>
          <p:nvPr/>
        </p:nvSpPr>
        <p:spPr>
          <a:xfrm>
            <a:off x="1371600" y="4160519"/>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2240280"/>
            <a:ext cx="274320" cy="274320"/>
          </a:xfrm>
          <a:prstGeom prst="rect">
            <a:avLst/>
          </a:prstGeom>
        </p:spPr>
      </p:pic>
      <p:sp>
        <p:nvSpPr>
          <p:cNvPr id="15" name="Text 10"/>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56539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92" name="TextBox 91"/>
          <p:cNvSpPr txBox="1"/>
          <p:nvPr/>
        </p:nvSpPr>
        <p:spPr>
          <a:xfrm>
            <a:off x="11365992" y="656539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then the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184</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Assess and integrate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Conduct a compatibility assessment of Claude Cowork interfaces and use essential tools to integrate selected marketing components.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Test and troubleshoot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integrated marketing components and interfaces, identify integration errors and conduct basic troubleshooting.</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Version and improve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Propose changes to the integration plan from observed results, through versioning, and apply integration best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topics over two days, one business: Horizon Wealth Planning and the AI marketing team you build for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Components, Compatibility, Integration</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checked for compatibility; Campaign 1. Labs 1–5.</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Testing and Troubleshooting</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cadence, blog, lead magnet, social, newsletter + landing page, video — each one an integration test. Labs 6–12.</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Versioning and Best Practices</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 versioned playbook and a change proposal;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658550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Studio · 2 Instructions · 3 Skills · 4 Connectors</a:t>
            </a:r>
          </a:p>
        </p:txBody>
      </p:sp>
      <p:sp>
        <p:nvSpPr>
          <p:cNvPr id="15" name="TextBox 14"/>
          <p:cNvSpPr txBox="1"/>
          <p:nvPr/>
        </p:nvSpPr>
        <p:spPr>
          <a:xfrm>
            <a:off x="8716060" y="2560320"/>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assess and integrate</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8716060" y="3189427"/>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first integrated run</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8716060" y="3818534"/>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test the data paths</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posts · 11 Newsletter + landing page · 12 Video</a:t>
            </a:r>
          </a:p>
        </p:txBody>
      </p:sp>
      <p:sp>
        <p:nvSpPr>
          <p:cNvPr id="25" name="TextBox 24"/>
          <p:cNvSpPr txBox="1"/>
          <p:nvPr/>
        </p:nvSpPr>
        <p:spPr>
          <a:xfrm>
            <a:off x="8716060" y="4447641"/>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test and troubleshoot</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Versioned playbook · 15 Agent teams: debate + QA loop</a:t>
            </a:r>
          </a:p>
        </p:txBody>
      </p:sp>
      <p:sp>
        <p:nvSpPr>
          <p:cNvPr id="29" name="TextBox 28"/>
          <p:cNvSpPr txBox="1"/>
          <p:nvPr/>
        </p:nvSpPr>
        <p:spPr>
          <a:xfrm>
            <a:off x="8716060" y="5076748"/>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version and improve</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One App, 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1 hour.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AND INTEGRATE</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TEST, VERSION, ASSESS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9:00–10:35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9:00–10:35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10:45–12:30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10:45–12:10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13:30–15:25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13:10–14:45  Topic 3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15:35–18:00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14:55–15:30  Lab 15 · summary · 15:30–18:00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3:30–4:30 PM, Practical Performance 4:30–6:00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COWORK</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Cowork is Claude working on a folder of your files. In class you use the same app in Code mode, so every file is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and integrate Horizon's team here, in every lab.</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tertiarycourses.github.io/TGS-2023018659-Claude-Cowork-for-Digital-Marketing</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in This Course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Claude products, one studio folder.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Claude Cowork Components, Compatibility and Integration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systems behind the team, their components and interfaces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Assess compatibility, integrate, then run Campaign 1</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Claude Cowork for Digital Marketing · TGS-2023018659</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SYSTEMS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Systems Behind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Your AI marketing team is an integration of several kinds of ICT system. Each works differently — and each can fail differently.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SYSTEM</a:t>
            </a:r>
          </a:p>
        </p:txBody>
      </p:sp>
      <p:sp>
        <p:nvSpPr>
          <p:cNvPr id="10" name="TextBox 9"/>
          <p:cNvSpPr txBox="1"/>
          <p:nvPr/>
        </p:nvSpPr>
        <p:spPr>
          <a:xfrm>
            <a:off x="3405225"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TYPE</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IT WORKS</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desktop app</a:t>
            </a:r>
          </a:p>
        </p:txBody>
      </p:sp>
      <p:sp>
        <p:nvSpPr>
          <p:cNvPr id="14" name="TextBox 13"/>
          <p:cNvSpPr txBox="1"/>
          <p:nvPr/>
        </p:nvSpPr>
        <p:spPr>
          <a:xfrm>
            <a:off x="3405225" y="2560320"/>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 harness</a:t>
            </a:r>
          </a:p>
        </p:txBody>
      </p:sp>
      <p:sp>
        <p:nvSpPr>
          <p:cNvPr id="15" name="TextBox 14"/>
          <p:cNvSpPr txBox="1"/>
          <p:nvPr/>
        </p:nvSpPr>
        <p:spPr>
          <a:xfrm>
            <a:off x="6060643" y="2560320"/>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the agentic loop on your computer; reads and writes your folder.</a:t>
            </a:r>
          </a:p>
        </p:txBody>
      </p:sp>
      <p:sp>
        <p:nvSpPr>
          <p:cNvPr id="16" name="TextBox 15"/>
          <p:cNvSpPr txBox="1"/>
          <p:nvPr/>
        </p:nvSpPr>
        <p:spPr>
          <a:xfrm>
            <a:off x="749808" y="3009682"/>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models</a:t>
            </a:r>
          </a:p>
        </p:txBody>
      </p:sp>
      <p:sp>
        <p:nvSpPr>
          <p:cNvPr id="17" name="TextBox 16"/>
          <p:cNvSpPr txBox="1"/>
          <p:nvPr/>
        </p:nvSpPr>
        <p:spPr>
          <a:xfrm>
            <a:off x="3405225" y="3009682"/>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Cloud AI service</a:t>
            </a:r>
          </a:p>
        </p:txBody>
      </p:sp>
      <p:sp>
        <p:nvSpPr>
          <p:cNvPr id="18" name="TextBox 17"/>
          <p:cNvSpPr txBox="1"/>
          <p:nvPr/>
        </p:nvSpPr>
        <p:spPr>
          <a:xfrm>
            <a:off x="6060643" y="3009682"/>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Anthropic's servers answer each step; billed by plan or by token.</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Drive, Gmail, Calendar</a:t>
            </a:r>
          </a:p>
        </p:txBody>
      </p:sp>
      <p:sp>
        <p:nvSpPr>
          <p:cNvPr id="21" name="TextBox 20"/>
          <p:cNvSpPr txBox="1"/>
          <p:nvPr/>
        </p:nvSpPr>
        <p:spPr>
          <a:xfrm>
            <a:off x="3405225" y="3459044"/>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Cloud SaaS</a:t>
            </a:r>
          </a:p>
        </p:txBody>
      </p:sp>
      <p:sp>
        <p:nvSpPr>
          <p:cNvPr id="22" name="TextBox 21"/>
          <p:cNvSpPr txBox="1"/>
          <p:nvPr/>
        </p:nvSpPr>
        <p:spPr>
          <a:xfrm>
            <a:off x="6060643" y="3459044"/>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Reached through connectors, signed in with your own Google account.</a:t>
            </a:r>
          </a:p>
        </p:txBody>
      </p:sp>
      <p:sp>
        <p:nvSpPr>
          <p:cNvPr id="23" name="TextBox 22"/>
          <p:cNvSpPr txBox="1"/>
          <p:nvPr/>
        </p:nvSpPr>
        <p:spPr>
          <a:xfrm>
            <a:off x="749808" y="3908406"/>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Firecrawl</a:t>
            </a:r>
          </a:p>
        </p:txBody>
      </p:sp>
      <p:sp>
        <p:nvSpPr>
          <p:cNvPr id="24" name="TextBox 23"/>
          <p:cNvSpPr txBox="1"/>
          <p:nvPr/>
        </p:nvSpPr>
        <p:spPr>
          <a:xfrm>
            <a:off x="3405225" y="3908406"/>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data service</a:t>
            </a:r>
          </a:p>
        </p:txBody>
      </p:sp>
      <p:sp>
        <p:nvSpPr>
          <p:cNvPr id="25" name="TextBox 24"/>
          <p:cNvSpPr txBox="1"/>
          <p:nvPr/>
        </p:nvSpPr>
        <p:spPr>
          <a:xfrm>
            <a:off x="6060643" y="3908406"/>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Searches and scrapes public pages for the strategist.</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Horizon's website</a:t>
            </a:r>
          </a:p>
        </p:txBody>
      </p:sp>
      <p:sp>
        <p:nvSpPr>
          <p:cNvPr id="28" name="TextBox 27"/>
          <p:cNvSpPr txBox="1"/>
          <p:nvPr/>
        </p:nvSpPr>
        <p:spPr>
          <a:xfrm>
            <a:off x="3405225" y="4357769"/>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application</a:t>
            </a:r>
          </a:p>
        </p:txBody>
      </p:sp>
      <p:sp>
        <p:nvSpPr>
          <p:cNvPr id="29" name="TextBox 28"/>
          <p:cNvSpPr txBox="1"/>
          <p:nvPr/>
        </p:nvSpPr>
        <p:spPr>
          <a:xfrm>
            <a:off x="6060643" y="4357769"/>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Static HTML pages served on localhost; the public copy on GitHub Pages.</a:t>
            </a:r>
          </a:p>
        </p:txBody>
      </p:sp>
      <p:sp>
        <p:nvSpPr>
          <p:cNvPr id="30" name="TextBox 29"/>
          <p:cNvSpPr txBox="1"/>
          <p:nvPr/>
        </p:nvSpPr>
        <p:spPr>
          <a:xfrm>
            <a:off x="749808" y="4807131"/>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 Facebook, YouTube</a:t>
            </a:r>
          </a:p>
        </p:txBody>
      </p:sp>
      <p:sp>
        <p:nvSpPr>
          <p:cNvPr id="31" name="TextBox 30"/>
          <p:cNvSpPr txBox="1"/>
          <p:nvPr/>
        </p:nvSpPr>
        <p:spPr>
          <a:xfrm>
            <a:off x="3405225" y="4807131"/>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Social platforms</a:t>
            </a:r>
          </a:p>
        </p:txBody>
      </p:sp>
      <p:sp>
        <p:nvSpPr>
          <p:cNvPr id="32" name="TextBox 31"/>
          <p:cNvSpPr txBox="1"/>
          <p:nvPr/>
        </p:nvSpPr>
        <p:spPr>
          <a:xfrm>
            <a:off x="6060643" y="4807131"/>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Accept posts and uploads through their HTTPS APIs, with tokens.</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horizon-studio/</a:t>
            </a:r>
          </a:p>
        </p:txBody>
      </p:sp>
      <p:sp>
        <p:nvSpPr>
          <p:cNvPr id="35" name="TextBox 34"/>
          <p:cNvSpPr txBox="1"/>
          <p:nvPr/>
        </p:nvSpPr>
        <p:spPr>
          <a:xfrm>
            <a:off x="3405225" y="5256493"/>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Local file store</a:t>
            </a:r>
          </a:p>
        </p:txBody>
      </p:sp>
      <p:sp>
        <p:nvSpPr>
          <p:cNvPr id="36" name="TextBox 35"/>
          <p:cNvSpPr txBox="1"/>
          <p:nvPr/>
        </p:nvSpPr>
        <p:spPr>
          <a:xfrm>
            <a:off x="6060643" y="5256493"/>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CSV data, Markdown rules and the team's outputs — shared by every agent.</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labs integrate these one at a time, and test each join.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INTERFACES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Components and Their Interfaces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component is a part you can change on its own. An interface is how two components exchange work.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COMPONENT</a:t>
            </a:r>
          </a:p>
        </p:txBody>
      </p:sp>
      <p:sp>
        <p:nvSpPr>
          <p:cNvPr id="10" name="TextBox 9"/>
          <p:cNvSpPr txBox="1"/>
          <p:nvPr/>
        </p:nvSpPr>
        <p:spPr>
          <a:xfrm>
            <a:off x="3626510"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ITS INTERFACE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CLAUDE.md</a:t>
            </a:r>
          </a:p>
        </p:txBody>
      </p:sp>
      <p:sp>
        <p:nvSpPr>
          <p:cNvPr id="14" name="TextBox 13"/>
          <p:cNvSpPr txBox="1"/>
          <p:nvPr/>
        </p:nvSpPr>
        <p:spPr>
          <a:xfrm>
            <a:off x="3626510" y="2560320"/>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 charter</a:t>
            </a:r>
          </a:p>
        </p:txBody>
      </p:sp>
      <p:sp>
        <p:nvSpPr>
          <p:cNvPr id="15" name="TextBox 14"/>
          <p:cNvSpPr txBox="1"/>
          <p:nvPr/>
        </p:nvSpPr>
        <p:spPr>
          <a:xfrm>
            <a:off x="7830921" y="2560320"/>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 at the start of every session</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Agent files</a:t>
            </a:r>
          </a:p>
        </p:txBody>
      </p:sp>
      <p:sp>
        <p:nvSpPr>
          <p:cNvPr id="17" name="TextBox 16"/>
          <p:cNvSpPr txBox="1"/>
          <p:nvPr/>
        </p:nvSpPr>
        <p:spPr>
          <a:xfrm>
            <a:off x="3626510" y="3084575"/>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.claude/agents/*.md</a:t>
            </a:r>
          </a:p>
        </p:txBody>
      </p:sp>
      <p:sp>
        <p:nvSpPr>
          <p:cNvPr id="18" name="TextBox 17"/>
          <p:cNvSpPr txBox="1"/>
          <p:nvPr/>
        </p:nvSpPr>
        <p:spPr>
          <a:xfrm>
            <a:off x="7830921" y="3084575"/>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YAML frontmatter + instructions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21" name="TextBox 20"/>
          <p:cNvSpPr txBox="1"/>
          <p:nvPr/>
        </p:nvSpPr>
        <p:spPr>
          <a:xfrm>
            <a:off x="3626510" y="3608831"/>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.claude/skills/*/SKILL.md</a:t>
            </a:r>
          </a:p>
        </p:txBody>
      </p:sp>
      <p:sp>
        <p:nvSpPr>
          <p:cNvPr id="22" name="TextBox 21"/>
          <p:cNvSpPr txBox="1"/>
          <p:nvPr/>
        </p:nvSpPr>
        <p:spPr>
          <a:xfrm>
            <a:off x="7830921" y="3608831"/>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Loaded when "Use when…" matches</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Connectors</a:t>
            </a:r>
          </a:p>
        </p:txBody>
      </p:sp>
      <p:sp>
        <p:nvSpPr>
          <p:cNvPr id="24" name="TextBox 23"/>
          <p:cNvSpPr txBox="1"/>
          <p:nvPr/>
        </p:nvSpPr>
        <p:spPr>
          <a:xfrm>
            <a:off x="3626510" y="4133087"/>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Drive, Gmail, Calendar, Firecrawl</a:t>
            </a:r>
          </a:p>
        </p:txBody>
      </p:sp>
      <p:sp>
        <p:nvSpPr>
          <p:cNvPr id="25" name="TextBox 24"/>
          <p:cNvSpPr txBox="1"/>
          <p:nvPr/>
        </p:nvSpPr>
        <p:spPr>
          <a:xfrm>
            <a:off x="7830921" y="4133087"/>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signed in with OAuth</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Hooks and scripts</a:t>
            </a:r>
          </a:p>
        </p:txBody>
      </p:sp>
      <p:sp>
        <p:nvSpPr>
          <p:cNvPr id="28" name="TextBox 27"/>
          <p:cNvSpPr txBox="1"/>
          <p:nvPr/>
        </p:nvSpPr>
        <p:spPr>
          <a:xfrm>
            <a:off x="3626510" y="4657344"/>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approval gate, the publisher</a:t>
            </a:r>
          </a:p>
        </p:txBody>
      </p:sp>
      <p:sp>
        <p:nvSpPr>
          <p:cNvPr id="29" name="TextBox 28"/>
          <p:cNvSpPr txBox="1"/>
          <p:nvPr/>
        </p:nvSpPr>
        <p:spPr>
          <a:xfrm>
            <a:off x="7830921" y="4657344"/>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JSON in, exit code out; HTTPS APIs</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Data and outputs</a:t>
            </a:r>
          </a:p>
        </p:txBody>
      </p:sp>
      <p:sp>
        <p:nvSpPr>
          <p:cNvPr id="31" name="TextBox 30"/>
          <p:cNvSpPr txBox="1"/>
          <p:nvPr/>
        </p:nvSpPr>
        <p:spPr>
          <a:xfrm>
            <a:off x="3626510" y="5181599"/>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facts, CSVs, posts, reports</a:t>
            </a:r>
          </a:p>
        </p:txBody>
      </p:sp>
      <p:sp>
        <p:nvSpPr>
          <p:cNvPr id="32" name="TextBox 31"/>
          <p:cNvSpPr txBox="1"/>
          <p:nvPr/>
        </p:nvSpPr>
        <p:spPr>
          <a:xfrm>
            <a:off x="7830921" y="5181599"/>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Files in data/, content/, reports/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Compatibility is judged at each interface: format, protocol, access.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tertiarycourses.github.io/TGS-2023018659-Claude-Cowork-for-Digital-Marketing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Labs 8 and 9 add to it, and every post links to it. Check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A person approves by typing "approved &lt;id&gt; by &lt;name&gt;" in the chat; never ask me to run a command, open a terminal or edit a file.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a claude.ai artifact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COMPATIBILITY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Assessing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connect a component, check it fits at the interface. A connection that "works" can still be wrong.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Format and encoding</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CSV in UTF-8, the right columns, dates and S$ — the agent reads what the file really says.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Protocol and version</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MCP for connectors; the API version a platform expects (e.g. LinkedIn-Version: YYYYMM).</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Identity and scope</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Signed in with the right account; OAuth scopes that allow the job — read, draft, never send.</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Least privilege</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 gets only the connectors its job needs; the tools line removes the rest.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Plan and platform</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 plan or above, the desktop app, a claude.ai sign-in — not an API key.</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 protection</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Personal data stays out of prompts; marketing only to people who consented (PDPA).</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COMPATIBILITY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Compatibility Matrix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4 ends with one row per agent and interface: what it needs, what it has, the test, and the verdict.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71302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 SYSTEM</a:t>
            </a:r>
          </a:p>
        </p:txBody>
      </p:sp>
      <p:sp>
        <p:nvSpPr>
          <p:cNvPr id="10" name="TextBox 9"/>
          <p:cNvSpPr txBox="1"/>
          <p:nvPr/>
        </p:nvSpPr>
        <p:spPr>
          <a:xfrm>
            <a:off x="3737152" y="2203703"/>
            <a:ext cx="182788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INTERFACE</a:t>
            </a:r>
          </a:p>
        </p:txBody>
      </p:sp>
      <p:sp>
        <p:nvSpPr>
          <p:cNvPr id="11" name="TextBox 10"/>
          <p:cNvSpPr txBox="1"/>
          <p:nvPr/>
        </p:nvSpPr>
        <p:spPr>
          <a:xfrm>
            <a:off x="5839358"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TEST</a:t>
            </a:r>
          </a:p>
        </p:txBody>
      </p:sp>
      <p:sp>
        <p:nvSpPr>
          <p:cNvPr id="12" name="TextBox 11"/>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STATUS</a:t>
            </a:r>
          </a:p>
        </p:txBody>
      </p:sp>
      <p:sp>
        <p:nvSpPr>
          <p:cNvPr id="13" name="Rectangle 12"/>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Analyst → Drive</a:t>
            </a:r>
          </a:p>
        </p:txBody>
      </p:sp>
      <p:sp>
        <p:nvSpPr>
          <p:cNvPr id="15" name="TextBox 14"/>
          <p:cNvSpPr txBox="1"/>
          <p:nvPr/>
        </p:nvSpPr>
        <p:spPr>
          <a:xfrm>
            <a:off x="3737152" y="2560320"/>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read</a:t>
            </a:r>
          </a:p>
        </p:txBody>
      </p:sp>
      <p:sp>
        <p:nvSpPr>
          <p:cNvPr id="16" name="TextBox 15"/>
          <p:cNvSpPr txBox="1"/>
          <p:nvPr/>
        </p:nvSpPr>
        <p:spPr>
          <a:xfrm>
            <a:off x="5839358" y="2560320"/>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firm-metrics.csv</a:t>
            </a:r>
          </a:p>
        </p:txBody>
      </p:sp>
      <p:sp>
        <p:nvSpPr>
          <p:cNvPr id="17" name="TextBox 16"/>
          <p:cNvSpPr txBox="1"/>
          <p:nvPr/>
        </p:nvSpPr>
        <p:spPr>
          <a:xfrm>
            <a:off x="9601200" y="2560320"/>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18" name="TextBox 17"/>
          <p:cNvSpPr txBox="1"/>
          <p:nvPr/>
        </p:nvSpPr>
        <p:spPr>
          <a:xfrm>
            <a:off x="749808" y="3189427"/>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Creator → Gmail</a:t>
            </a:r>
          </a:p>
        </p:txBody>
      </p:sp>
      <p:sp>
        <p:nvSpPr>
          <p:cNvPr id="19" name="TextBox 18"/>
          <p:cNvSpPr txBox="1"/>
          <p:nvPr/>
        </p:nvSpPr>
        <p:spPr>
          <a:xfrm>
            <a:off x="3737152" y="3189427"/>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drafts</a:t>
            </a:r>
          </a:p>
        </p:txBody>
      </p:sp>
      <p:sp>
        <p:nvSpPr>
          <p:cNvPr id="20" name="TextBox 19"/>
          <p:cNvSpPr txBox="1"/>
          <p:nvPr/>
        </p:nvSpPr>
        <p:spPr>
          <a:xfrm>
            <a:off x="5839358" y="3189427"/>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Leaves a draft, sends nothing</a:t>
            </a:r>
          </a:p>
        </p:txBody>
      </p:sp>
      <p:sp>
        <p:nvSpPr>
          <p:cNvPr id="21" name="TextBox 20"/>
          <p:cNvSpPr txBox="1"/>
          <p:nvPr/>
        </p:nvSpPr>
        <p:spPr>
          <a:xfrm>
            <a:off x="9601200" y="3189427"/>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22" name="Rectangle 21"/>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818534"/>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Strategist → Firecrawl</a:t>
            </a:r>
          </a:p>
        </p:txBody>
      </p:sp>
      <p:sp>
        <p:nvSpPr>
          <p:cNvPr id="24" name="TextBox 23"/>
          <p:cNvSpPr txBox="1"/>
          <p:nvPr/>
        </p:nvSpPr>
        <p:spPr>
          <a:xfrm>
            <a:off x="3737152" y="3818534"/>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search</a:t>
            </a:r>
          </a:p>
        </p:txBody>
      </p:sp>
      <p:sp>
        <p:nvSpPr>
          <p:cNvPr id="25" name="TextBox 24"/>
          <p:cNvSpPr txBox="1"/>
          <p:nvPr/>
        </p:nvSpPr>
        <p:spPr>
          <a:xfrm>
            <a:off x="5839358" y="3818534"/>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Cites one 2026 news item</a:t>
            </a:r>
          </a:p>
        </p:txBody>
      </p:sp>
      <p:sp>
        <p:nvSpPr>
          <p:cNvPr id="26" name="TextBox 25"/>
          <p:cNvSpPr txBox="1"/>
          <p:nvPr/>
        </p:nvSpPr>
        <p:spPr>
          <a:xfrm>
            <a:off x="9601200" y="3818534"/>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27" name="TextBox 26"/>
          <p:cNvSpPr txBox="1"/>
          <p:nvPr/>
        </p:nvSpPr>
        <p:spPr>
          <a:xfrm>
            <a:off x="749808" y="4447641"/>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Designer → Gmail</a:t>
            </a:r>
          </a:p>
        </p:txBody>
      </p:sp>
      <p:sp>
        <p:nvSpPr>
          <p:cNvPr id="28" name="TextBox 27"/>
          <p:cNvSpPr txBox="1"/>
          <p:nvPr/>
        </p:nvSpPr>
        <p:spPr>
          <a:xfrm>
            <a:off x="3737152" y="4447641"/>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Not needed</a:t>
            </a:r>
          </a:p>
        </p:txBody>
      </p:sp>
      <p:sp>
        <p:nvSpPr>
          <p:cNvPr id="29" name="TextBox 28"/>
          <p:cNvSpPr txBox="1"/>
          <p:nvPr/>
        </p:nvSpPr>
        <p:spPr>
          <a:xfrm>
            <a:off x="5839358" y="4447641"/>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Removed from its tools line</a:t>
            </a:r>
          </a:p>
        </p:txBody>
      </p:sp>
      <p:sp>
        <p:nvSpPr>
          <p:cNvPr id="30" name="TextBox 29"/>
          <p:cNvSpPr txBox="1"/>
          <p:nvPr/>
        </p:nvSpPr>
        <p:spPr>
          <a:xfrm>
            <a:off x="9601200" y="4447641"/>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Blocked</a:t>
            </a:r>
          </a:p>
        </p:txBody>
      </p:sp>
      <p:sp>
        <p:nvSpPr>
          <p:cNvPr id="31" name="Rectangle 30"/>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076748"/>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Lead → LinkedIn</a:t>
            </a:r>
          </a:p>
        </p:txBody>
      </p:sp>
      <p:sp>
        <p:nvSpPr>
          <p:cNvPr id="33" name="TextBox 32"/>
          <p:cNvSpPr txBox="1"/>
          <p:nvPr/>
        </p:nvSpPr>
        <p:spPr>
          <a:xfrm>
            <a:off x="3737152" y="5076748"/>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HTTPS API</a:t>
            </a:r>
          </a:p>
        </p:txBody>
      </p:sp>
      <p:sp>
        <p:nvSpPr>
          <p:cNvPr id="34" name="TextBox 33"/>
          <p:cNvSpPr txBox="1"/>
          <p:nvPr/>
        </p:nvSpPr>
        <p:spPr>
          <a:xfrm>
            <a:off x="5839358" y="5076748"/>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Dry run only; no token yet</a:t>
            </a:r>
          </a:p>
        </p:txBody>
      </p:sp>
      <p:sp>
        <p:nvSpPr>
          <p:cNvPr id="35" name="TextBox 34"/>
          <p:cNvSpPr txBox="1"/>
          <p:nvPr/>
        </p:nvSpPr>
        <p:spPr>
          <a:xfrm>
            <a:off x="9601200" y="5076748"/>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Conditional</a:t>
            </a:r>
          </a:p>
        </p:txBody>
      </p:sp>
      <p:sp>
        <p:nvSpPr>
          <p:cNvPr id="36" name="Rounded Rectangle 3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Compatible, Conditional (works with a condition) or Blocked (on purpose, or until fixed).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 and a compatibility matrix for the whole team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 · a compatibility matrix</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Ask: "Create a Google Drive folder named Horizon Studio and upload every file in data/ to it as plain files — do not convert them."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Assess compatibility  </a:t>
            </a:r>
            <a:r>
              <a:rPr sz="1300">
                <a:solidFill>
                  <a:srgbClr val="6B6862"/>
                </a:solidFill>
                <a:latin typeface="Calibri"/>
              </a:rPr>
              <a:t>After the five results are reported, copy and paste Prompt C. Every row is Compatible, Conditional or Blocked, with a fix.</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First tell me which connectors and plugins you can use. Then run these five checks, each by its own subagent:</a:t>
            </a:r>
          </a:p>
          <a:p>
            <a:pPr>
              <a:lnSpc>
                <a:spcPct val="110000"/>
              </a:lnSpc>
              <a:defRPr sz="1700" b="0">
                <a:solidFill>
                  <a:srgbClr val="21201C"/>
                </a:solidFill>
                <a:latin typeface="Calibri"/>
              </a:defRPr>
            </a:pPr>
            <a:r>
              <a:t>1. growth-strategist: Firecrawl — search for one 2026 news item about financial planning in Singapore, scrape it and cite it.</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render a 1080x1080 test card in Horizon colours and save it in content/test/.</a:t>
            </a:r>
          </a:p>
          <a:p>
            <a:pPr>
              <a:lnSpc>
                <a:spcPct val="110000"/>
              </a:lnSpc>
              <a:defRPr sz="170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the compatibility matrix</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our integration checker. Make a compatibility matrix for the team: one row for each agent and each system it connects to (Google Drive, Gmail, Google Calendar, Firecrawl, the built-in browser, our website). For each row give the interface (connector, file or browser), what the agent's job needs, the access it has now, the result of its test in Prompt B, and a status: Compatible, Conditional or Blocked — with the fix for anything not Compatible. Flag any agent with more access than its job needs. Save it as reports/compatibility-matrix.md and publish it as an artifact in plain English, coloured by status.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compatibility matrix gives every row a status, and a fix for anything not Compatible.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is integrated and has run its first campaign. Now every campaign tests the joins — and finds what breaks.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Assessed and integrated  ·  Labs 1–4</a:t>
            </a:r>
          </a:p>
        </p:txBody>
      </p:sp>
      <p:sp>
        <p:nvSpPr>
          <p:cNvPr id="11" name="TextBox 10"/>
          <p:cNvSpPr txBox="1"/>
          <p:nvPr/>
        </p:nvSpPr>
        <p:spPr>
          <a:xfrm>
            <a:off x="786384"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your copy of the website, six agents with instructions, skills and connectors, and a compatibility matrix.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First integrated run  ·  Lab 5</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across Firecrawl and Drive,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next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each integration with real campaign work, read the signs of errors, troubleshoot. That is Topic 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Testing Marketing Integrations and Troubleshooting Errors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Integration tools, techniques and protocols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Every campaign is an integration test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Personas, cadence and a blog: test the data paths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Social, newsletter, landing page and video: test the gate and the APIs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Signs of integration errors, and basic troubleshooting</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Claude Cowork for Digital Marketing · TGS-2023018659</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Integration Tools and Techniques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basic toolkit you already used in Labs 1–5 — and the techniques that keep an integration safe.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Customize → Connectors and /plugin. /mcp lists what is connected; /status shows the account.</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Limit</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tools line and disallowedTools — least privilege, written down.</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Standardise</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Skills (SKILL.md): one procedure, applied the same way by every agent.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Hooks in .claude/settings.json run before every tool call — the approval gate.</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Rehearse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Dry runs: publish.mjs prints the exact request before anything is sent.</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Schedule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Routines run a skill on the clock and leave a draft for a person.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TESTING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Every Campaign Is an Integration Test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lab joins components and checks a known answer. If the answer is wrong, an interface is wrong.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0" name="TextBox 9"/>
          <p:cNvSpPr txBox="1"/>
          <p:nvPr/>
        </p:nvSpPr>
        <p:spPr>
          <a:xfrm>
            <a:off x="1856232"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COMPONENTS JOINED</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PASS WHEN</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6</a:t>
            </a:r>
          </a:p>
        </p:txBody>
      </p:sp>
      <p:sp>
        <p:nvSpPr>
          <p:cNvPr id="14" name="TextBox 13"/>
          <p:cNvSpPr txBox="1"/>
          <p:nvPr/>
        </p:nvSpPr>
        <p:spPr>
          <a:xfrm>
            <a:off x="1856232" y="2560320"/>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Survey CSVs → Growth Analyst</a:t>
            </a:r>
          </a:p>
        </p:txBody>
      </p:sp>
      <p:sp>
        <p:nvSpPr>
          <p:cNvPr id="15" name="TextBox 14"/>
          <p:cNvSpPr txBox="1"/>
          <p:nvPr/>
        </p:nvSpPr>
        <p:spPr>
          <a:xfrm>
            <a:off x="6060643" y="2560320"/>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Counts are made with code; every claim has an n and a file</a:t>
            </a:r>
          </a:p>
        </p:txBody>
      </p:sp>
      <p:sp>
        <p:nvSpPr>
          <p:cNvPr id="16" name="TextBox 15"/>
          <p:cNvSpPr txBox="1"/>
          <p:nvPr/>
        </p:nvSpPr>
        <p:spPr>
          <a:xfrm>
            <a:off x="749808" y="3009682"/>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7</a:t>
            </a:r>
          </a:p>
        </p:txBody>
      </p:sp>
      <p:sp>
        <p:nvSpPr>
          <p:cNvPr id="17" name="TextBox 16"/>
          <p:cNvSpPr txBox="1"/>
          <p:nvPr/>
        </p:nvSpPr>
        <p:spPr>
          <a:xfrm>
            <a:off x="1856232" y="3009682"/>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Benchmarks → Analyst → Strategist</a:t>
            </a:r>
          </a:p>
        </p:txBody>
      </p:sp>
      <p:sp>
        <p:nvSpPr>
          <p:cNvPr id="18" name="TextBox 17"/>
          <p:cNvSpPr txBox="1"/>
          <p:nvPr/>
        </p:nvSpPr>
        <p:spPr>
          <a:xfrm>
            <a:off x="6060643" y="3009682"/>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frequency per channel with evidence; no week over 12 hours</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8</a:t>
            </a:r>
          </a:p>
        </p:txBody>
      </p:sp>
      <p:sp>
        <p:nvSpPr>
          <p:cNvPr id="21" name="TextBox 20"/>
          <p:cNvSpPr txBox="1"/>
          <p:nvPr/>
        </p:nvSpPr>
        <p:spPr>
          <a:xfrm>
            <a:off x="1856232" y="3459044"/>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Strategist → Creator → website</a:t>
            </a:r>
          </a:p>
        </p:txBody>
      </p:sp>
      <p:sp>
        <p:nvSpPr>
          <p:cNvPr id="22" name="TextBox 21"/>
          <p:cNvSpPr txBox="1"/>
          <p:nvPr/>
        </p:nvSpPr>
        <p:spPr>
          <a:xfrm>
            <a:off x="6060643" y="3459044"/>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article shows on your site; every figure is on the facts sheet</a:t>
            </a:r>
          </a:p>
        </p:txBody>
      </p:sp>
      <p:sp>
        <p:nvSpPr>
          <p:cNvPr id="23" name="TextBox 22"/>
          <p:cNvSpPr txBox="1"/>
          <p:nvPr/>
        </p:nvSpPr>
        <p:spPr>
          <a:xfrm>
            <a:off x="749808" y="3908406"/>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9</a:t>
            </a:r>
          </a:p>
        </p:txBody>
      </p:sp>
      <p:sp>
        <p:nvSpPr>
          <p:cNvPr id="24" name="TextBox 23"/>
          <p:cNvSpPr txBox="1"/>
          <p:nvPr/>
        </p:nvSpPr>
        <p:spPr>
          <a:xfrm>
            <a:off x="1856232" y="3908406"/>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Creator → Gmail; checklist → site</a:t>
            </a:r>
          </a:p>
        </p:txBody>
      </p:sp>
      <p:sp>
        <p:nvSpPr>
          <p:cNvPr id="25" name="TextBox 24"/>
          <p:cNvSpPr txBox="1"/>
          <p:nvPr/>
        </p:nvSpPr>
        <p:spPr>
          <a:xfrm>
            <a:off x="6060643" y="3908406"/>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Three drafts in Gmail, nothing sent; the checklist is on your site</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10</a:t>
            </a:r>
          </a:p>
        </p:txBody>
      </p:sp>
      <p:sp>
        <p:nvSpPr>
          <p:cNvPr id="28" name="TextBox 27"/>
          <p:cNvSpPr txBox="1"/>
          <p:nvPr/>
        </p:nvSpPr>
        <p:spPr>
          <a:xfrm>
            <a:off x="1856232" y="4357769"/>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 → gate → LinkedIn, Facebook</a:t>
            </a:r>
          </a:p>
        </p:txBody>
      </p:sp>
      <p:sp>
        <p:nvSpPr>
          <p:cNvPr id="29" name="TextBox 28"/>
          <p:cNvSpPr txBox="1"/>
          <p:nvPr/>
        </p:nvSpPr>
        <p:spPr>
          <a:xfrm>
            <a:off x="6060643" y="4357769"/>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gate stops an agent approving; your approval is stored with a hash</a:t>
            </a:r>
          </a:p>
        </p:txBody>
      </p:sp>
      <p:sp>
        <p:nvSpPr>
          <p:cNvPr id="30" name="TextBox 29"/>
          <p:cNvSpPr txBox="1"/>
          <p:nvPr/>
        </p:nvSpPr>
        <p:spPr>
          <a:xfrm>
            <a:off x="749808" y="4807131"/>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11</a:t>
            </a:r>
          </a:p>
        </p:txBody>
      </p:sp>
      <p:sp>
        <p:nvSpPr>
          <p:cNvPr id="31" name="TextBox 30"/>
          <p:cNvSpPr txBox="1"/>
          <p:nvPr/>
        </p:nvSpPr>
        <p:spPr>
          <a:xfrm>
            <a:off x="1856232" y="4807131"/>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Contacts CSV → Analyst → Gmail</a:t>
            </a:r>
          </a:p>
        </p:txBody>
      </p:sp>
      <p:sp>
        <p:nvSpPr>
          <p:cNvPr id="32" name="TextBox 31"/>
          <p:cNvSpPr txBox="1"/>
          <p:nvPr/>
        </p:nvSpPr>
        <p:spPr>
          <a:xfrm>
            <a:off x="6060643" y="4807131"/>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31 of 40 recipients — consent = yes and not unsubscribed</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12</a:t>
            </a:r>
          </a:p>
        </p:txBody>
      </p:sp>
      <p:sp>
        <p:nvSpPr>
          <p:cNvPr id="35" name="TextBox 34"/>
          <p:cNvSpPr txBox="1"/>
          <p:nvPr/>
        </p:nvSpPr>
        <p:spPr>
          <a:xfrm>
            <a:off x="1856232" y="5256493"/>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Script → render → YouTube</a:t>
            </a:r>
          </a:p>
        </p:txBody>
      </p:sp>
      <p:sp>
        <p:nvSpPr>
          <p:cNvPr id="36" name="TextBox 35"/>
          <p:cNvSpPr txBox="1"/>
          <p:nvPr/>
        </p:nvSpPr>
        <p:spPr>
          <a:xfrm>
            <a:off x="6060643" y="5256493"/>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1920×1080, under 90 s; uploads as private</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Write the expected result before you run the test — then compare.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start my website if it is not running, and open it.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start my website if it is not running, and open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PROTOCOLS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Protocols at Each Interface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components integrate only when both accept the same protocol at the interface between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INTERFACE</a:t>
            </a:r>
          </a:p>
        </p:txBody>
      </p:sp>
      <p:sp>
        <p:nvSpPr>
          <p:cNvPr id="10" name="TextBox 9"/>
          <p:cNvSpPr txBox="1"/>
          <p:nvPr/>
        </p:nvSpPr>
        <p:spPr>
          <a:xfrm>
            <a:off x="3626510"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PROTOCOL</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ACCEPTED WHEN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 connectors</a:t>
            </a:r>
          </a:p>
        </p:txBody>
      </p:sp>
      <p:sp>
        <p:nvSpPr>
          <p:cNvPr id="14" name="TextBox 13"/>
          <p:cNvSpPr txBox="1"/>
          <p:nvPr/>
        </p:nvSpPr>
        <p:spPr>
          <a:xfrm>
            <a:off x="3626510" y="2560320"/>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(Model Context Protocol), JSON-RPC</a:t>
            </a:r>
          </a:p>
        </p:txBody>
      </p:sp>
      <p:sp>
        <p:nvSpPr>
          <p:cNvPr id="15" name="TextBox 14"/>
          <p:cNvSpPr txBox="1"/>
          <p:nvPr/>
        </p:nvSpPr>
        <p:spPr>
          <a:xfrm>
            <a:off x="7830921" y="2560320"/>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Listed in /mcp; the agent's tools line names it</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 ↔ Google</a:t>
            </a:r>
          </a:p>
        </p:txBody>
      </p:sp>
      <p:sp>
        <p:nvSpPr>
          <p:cNvPr id="17" name="TextBox 16"/>
          <p:cNvSpPr txBox="1"/>
          <p:nvPr/>
        </p:nvSpPr>
        <p:spPr>
          <a:xfrm>
            <a:off x="3626510" y="3084575"/>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OAuth 2.0 sign-in with scopes</a:t>
            </a:r>
          </a:p>
        </p:txBody>
      </p:sp>
      <p:sp>
        <p:nvSpPr>
          <p:cNvPr id="18" name="TextBox 17"/>
          <p:cNvSpPr txBox="1"/>
          <p:nvPr/>
        </p:nvSpPr>
        <p:spPr>
          <a:xfrm>
            <a:off x="7830921" y="3084575"/>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Your own account; the scope covers the job</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Publisher ↔ platforms</a:t>
            </a:r>
          </a:p>
        </p:txBody>
      </p:sp>
      <p:sp>
        <p:nvSpPr>
          <p:cNvPr id="21" name="TextBox 20"/>
          <p:cNvSpPr txBox="1"/>
          <p:nvPr/>
        </p:nvSpPr>
        <p:spPr>
          <a:xfrm>
            <a:off x="3626510" y="3608831"/>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HTTPS REST + JSON, bearer token</a:t>
            </a:r>
          </a:p>
        </p:txBody>
      </p:sp>
      <p:sp>
        <p:nvSpPr>
          <p:cNvPr id="22" name="TextBox 21"/>
          <p:cNvSpPr txBox="1"/>
          <p:nvPr/>
        </p:nvSpPr>
        <p:spPr>
          <a:xfrm>
            <a:off x="7830921" y="3608831"/>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Right version header; token in .env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 the gate</a:t>
            </a:r>
          </a:p>
        </p:txBody>
      </p:sp>
      <p:sp>
        <p:nvSpPr>
          <p:cNvPr id="24" name="TextBox 23"/>
          <p:cNvSpPr txBox="1"/>
          <p:nvPr/>
        </p:nvSpPr>
        <p:spPr>
          <a:xfrm>
            <a:off x="3626510" y="4133087"/>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Hook: JSON on stdin, exit code</a:t>
            </a:r>
          </a:p>
        </p:txBody>
      </p:sp>
      <p:sp>
        <p:nvSpPr>
          <p:cNvPr id="25" name="TextBox 24"/>
          <p:cNvSpPr txBox="1"/>
          <p:nvPr/>
        </p:nvSpPr>
        <p:spPr>
          <a:xfrm>
            <a:off x="7830921" y="4133087"/>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Exit 2 blocks the call and says why</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Agents ↔ files</a:t>
            </a:r>
          </a:p>
        </p:txBody>
      </p:sp>
      <p:sp>
        <p:nvSpPr>
          <p:cNvPr id="28" name="TextBox 27"/>
          <p:cNvSpPr txBox="1"/>
          <p:nvPr/>
        </p:nvSpPr>
        <p:spPr>
          <a:xfrm>
            <a:off x="3626510" y="4657344"/>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Markdown + YAML frontmatter; CSV UTF-8</a:t>
            </a:r>
          </a:p>
        </p:txBody>
      </p:sp>
      <p:sp>
        <p:nvSpPr>
          <p:cNvPr id="29" name="TextBox 28"/>
          <p:cNvSpPr txBox="1"/>
          <p:nvPr/>
        </p:nvSpPr>
        <p:spPr>
          <a:xfrm>
            <a:off x="7830921" y="4657344"/>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Required fields present; columns match</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 ↔ browser</a:t>
            </a:r>
          </a:p>
        </p:txBody>
      </p:sp>
      <p:sp>
        <p:nvSpPr>
          <p:cNvPr id="31" name="TextBox 30"/>
          <p:cNvSpPr txBox="1"/>
          <p:nvPr/>
        </p:nvSpPr>
        <p:spPr>
          <a:xfrm>
            <a:off x="3626510" y="5181599"/>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 on localhost:8080</a:t>
            </a:r>
          </a:p>
        </p:txBody>
      </p:sp>
      <p:sp>
        <p:nvSpPr>
          <p:cNvPr id="32" name="TextBox 31"/>
          <p:cNvSpPr txBox="1"/>
          <p:nvPr/>
        </p:nvSpPr>
        <p:spPr>
          <a:xfrm>
            <a:off x="7830921" y="5181599"/>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opens; links carry UTM tags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Protocol mismatches show up as errors at the interface — not in the model's answer.</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ERRORS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Signs of Integration Errors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Most failures announce themselves. Read the sign, then go to the interface it points at.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SIGN</a:t>
            </a:r>
          </a:p>
        </p:txBody>
      </p:sp>
      <p:sp>
        <p:nvSpPr>
          <p:cNvPr id="10" name="TextBox 9"/>
          <p:cNvSpPr txBox="1"/>
          <p:nvPr/>
        </p:nvSpPr>
        <p:spPr>
          <a:xfrm>
            <a:off x="4732934"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LIKELY CAUSE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 TO LOOK</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 have no Drive tool"</a:t>
            </a:r>
          </a:p>
        </p:txBody>
      </p:sp>
      <p:sp>
        <p:nvSpPr>
          <p:cNvPr id="14" name="TextBox 13"/>
          <p:cNvSpPr txBox="1"/>
          <p:nvPr/>
        </p:nvSpPr>
        <p:spPr>
          <a:xfrm>
            <a:off x="4732934" y="2560320"/>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 not on the tools line, or an old session</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 file; /mcp; new session</a:t>
            </a:r>
          </a:p>
        </p:txBody>
      </p:sp>
      <p:sp>
        <p:nvSpPr>
          <p:cNvPr id="16" name="TextBox 15"/>
          <p:cNvSpPr txBox="1"/>
          <p:nvPr/>
        </p:nvSpPr>
        <p:spPr>
          <a:xfrm>
            <a:off x="749808" y="3084575"/>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"Insufficient scope" / 403</a:t>
            </a:r>
          </a:p>
        </p:txBody>
      </p:sp>
      <p:sp>
        <p:nvSpPr>
          <p:cNvPr id="17" name="TextBox 16"/>
          <p:cNvSpPr txBox="1"/>
          <p:nvPr/>
        </p:nvSpPr>
        <p:spPr>
          <a:xfrm>
            <a:off x="4732934" y="3084575"/>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Signed in without the access the job needs</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Reconnect; grant the scope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figure not on the facts sheet</a:t>
            </a:r>
          </a:p>
        </p:txBody>
      </p:sp>
      <p:sp>
        <p:nvSpPr>
          <p:cNvPr id="21" name="TextBox 20"/>
          <p:cNvSpPr txBox="1"/>
          <p:nvPr/>
        </p:nvSpPr>
        <p:spPr>
          <a:xfrm>
            <a:off x="4732934" y="3608831"/>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agent used memory, not data/</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the source file</a:t>
            </a:r>
          </a:p>
        </p:txBody>
      </p:sp>
      <p:sp>
        <p:nvSpPr>
          <p:cNvPr id="23" name="TextBox 22"/>
          <p:cNvSpPr txBox="1"/>
          <p:nvPr/>
        </p:nvSpPr>
        <p:spPr>
          <a:xfrm>
            <a:off x="749808" y="4133087"/>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40 recipients, not 31</a:t>
            </a:r>
          </a:p>
        </p:txBody>
      </p:sp>
      <p:sp>
        <p:nvSpPr>
          <p:cNvPr id="24" name="TextBox 23"/>
          <p:cNvSpPr txBox="1"/>
          <p:nvPr/>
        </p:nvSpPr>
        <p:spPr>
          <a:xfrm>
            <a:off x="4732934" y="4133087"/>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consent filter was not applied</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contacts CSV columns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Publish refused: hash mismatch</a:t>
            </a:r>
          </a:p>
        </p:txBody>
      </p:sp>
      <p:sp>
        <p:nvSpPr>
          <p:cNvPr id="28" name="TextBox 27"/>
          <p:cNvSpPr txBox="1"/>
          <p:nvPr/>
        </p:nvSpPr>
        <p:spPr>
          <a:xfrm>
            <a:off x="4732934" y="4657344"/>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words changed after approval</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approvals.csv; approve again</a:t>
            </a:r>
          </a:p>
        </p:txBody>
      </p:sp>
      <p:sp>
        <p:nvSpPr>
          <p:cNvPr id="30" name="TextBox 29"/>
          <p:cNvSpPr txBox="1"/>
          <p:nvPr/>
        </p:nvSpPr>
        <p:spPr>
          <a:xfrm>
            <a:off x="749808" y="5181599"/>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Garbled S$ or dates</a:t>
            </a:r>
          </a:p>
        </p:txBody>
      </p:sp>
      <p:sp>
        <p:nvSpPr>
          <p:cNvPr id="31" name="TextBox 30"/>
          <p:cNvSpPr txBox="1"/>
          <p:nvPr/>
        </p:nvSpPr>
        <p:spPr>
          <a:xfrm>
            <a:off x="4732934" y="5181599"/>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Wrong encoding or date format</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Open the CSV; re-save as UTF-8</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refusal from the gate is the integration working — not a bug.</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on the review page and paste the line in the chat; then post it yourself (or, optionally, through the API).</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(set up in your folder since Lab 1) must block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The Lead starts two teammates and tells you as each one starts and finishes.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review page opens with a Team chat: the designer asking the creator for each hook, and the Lead's fixes.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the review email. Click Approve or Request changes, then Copy and paste into the chat.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Get ready to post  </a:t>
            </a:r>
            <a:r>
              <a:rPr sz="1300">
                <a:solidFill>
                  <a:srgbClr val="6B6862"/>
                </a:solidFill>
                <a:latin typeface="Calibri"/>
              </a:rPr>
              <a:t>After you have approved the posts, copy and paste Prompt B. Each post gets a Copy button, and the folder with the two images opens.</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Post it yourself  </a:t>
            </a:r>
            <a:r>
              <a:rPr sz="1300">
                <a:solidFill>
                  <a:srgbClr val="6B6862"/>
                </a:solidFill>
                <a:latin typeface="Calibri"/>
              </a:rPr>
              <a:t>Paste the text, add the image, Post — on LinkedIn and a test Facebook Page. Or stop at the preview.</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Optional: post through the apps  </a:t>
            </a:r>
            <a:r>
              <a:rPr sz="1300">
                <a:solidFill>
                  <a:srgbClr val="6B6862"/>
                </a:solidFill>
                <a:latin typeface="Calibri"/>
              </a:rPr>
              <a:t>Follow "Optional: post through LinkedIn and Facebook" in this lab's README.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694874"/>
          </a:xfrm>
          <a:prstGeom prst="rect">
            <a:avLst/>
          </a:prstGeom>
          <a:noFill/>
        </p:spPr>
        <p:txBody>
          <a:bodyPr wrap="square" lIns="18288" rIns="18288" tIns="9144" bIns="9144">
            <a:spAutoFit/>
          </a:bodyPr>
          <a:lstStyle/>
          <a:p>
            <a:pPr>
              <a:lnSpc>
                <a:spcPct val="110000"/>
              </a:lnSpc>
              <a:defRPr sz="125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25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25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25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At the top, a Team chat: the messages the teammates and you sent each other, in order, each with who sent it. Then each post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Lead said when each started and finished.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Team chat shows the designer and the creator messaging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Seven labs, each an integration test: every piece checked by the Lead and approved by a person. But how do you change the team safely?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Tested  ·  Labs 6–9</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Data paths: personas, cadence, the blog on your site, Gmail drafts and the checklist page.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Troubleshot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the consent filter, the render and the APIs — and the signs when they break.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next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Fix and improve without breaking what works: methods, versions, change proposals. That is Topic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Versioning, Change Proposals and Integration Best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Troubleshooting methodologies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Always on: from skill to schedule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measure what matters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Version the team; propose a change; roll back</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Claude Cowork for Digital Marketing · TGS-2023018659</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TROUBLESHOOTING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Troubleshooting Method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Guessing changes three things and fixes none. A method changes one thing and proves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Reproduce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Make it fail again on purpose, with the same input.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Isolate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component at a time: /mcp, /status, one small test per agent.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Inspect the interface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Format, protocol, account and scope — where the two parts meet.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Fix one thing</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smallest change that could explain the fault.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Retest and record</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 the same test; log the cause and the fix in the playbook.</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In Lab 15 the QA Auditor runs this loop: fail, fix, audit again — three rounds at most.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TROUBLESHOOTING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Five Ways to Find the Fault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Classic integration troubleshooting methods, applied to Horizon's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Top-down</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Start from the symptom — a wrong post — and trace back: Lead, agent, skill, data.</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Bottom-up</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lowest layer first: is the connector signed in? Does the file open? Then build up.</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Divide and conquer</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middle of the chain: did the analyst's list have 31 people before Gmail?</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Swap a known-good part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a sample you trust — e.g. sample-explainer.mp4 for the upload test.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Compare with the baseline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changed since it last worked? Version history shows the exact difference.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Escalate with evidence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After three rounds, hand a person the test, the result and what you tried.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Do it once  </a:t>
            </a:r>
            <a:r>
              <a:rPr sz="1550">
                <a:solidFill>
                  <a:srgbClr val="6B6862"/>
                </a:solidFill>
                <a:latin typeface="Calibri"/>
              </a:rPr>
              <a:t>Copy and paste Prompt A. Refine the report until it is right.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Schedule it  </a:t>
            </a:r>
            <a:r>
              <a:rPr sz="1550">
                <a:solidFill>
                  <a:srgbClr val="6B6862"/>
                </a:solidFill>
                <a:latin typeface="Calibri"/>
              </a:rPr>
              <a:t>After the report is right, copy and paste Prompt B into the instructions of a new routine: Routines → New routine → Local, Mondays at 8am.</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Run it now  </a:t>
            </a:r>
            <a:r>
              <a:rPr sz="1550">
                <a:solidFill>
                  <a:srgbClr val="6B6862"/>
                </a:solidFill>
                <a:latin typeface="Calibri"/>
              </a:rPr>
              <a:t>Click Run now once, approve any permission prompts, then open the Gmail draft.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Pause it  </a:t>
            </a:r>
            <a:r>
              <a:rPr sz="1550">
                <a:solidFill>
                  <a:srgbClr val="6B6862"/>
                </a:solidFill>
                <a:latin typeface="Calibri"/>
              </a:rPr>
              <a:t>After class, pause the routine.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VERSIONING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Versioning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Your agents, skills and rules are an integration plan. Version it, so every change can be compared — and undone.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Baseline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Save the team as it works today: version 1.0, with a note.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Observe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Results, run log, QA rounds, incidents — what the outcomes say.</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Propose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change, with the evidence, the files it touches and the risk.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Test</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 the same checks as before: fact-check, fin-compliance, a dry run.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Release or roll back</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Save version 1.1 — or go back to 1.0 if a check fails.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Claude Code keeps version history with git for you: ask in plain English, "save this as version 1.1".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CHANGE PROPOSAL</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Good Change Proposal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propose one change to how the team integrates, then prove it before it becomes the new version.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we saw</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outcome that prompts the change, with numbers from the run log or the report.</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change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change: a rule, a skill, a connector or a pattern. Files it touches.</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How we test it</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check that must still pass, and the one that should now improve.</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Risk and roll back</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could break, and the version to return to.</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approves</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named person — Rachel for anything with CPF or tax figures.</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Version note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"1.1 — what changed and why", saved with the files.</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the team playbook, a change proposal, and versions 1.0 and 1.1 of the team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 · version history · a change proposal and a roll-back plan</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Compare the patterns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playbook  </a:t>
            </a:r>
            <a:r>
              <a:rPr sz="1300">
                <a:solidFill>
                  <a:srgbClr val="6B6862"/>
                </a:solidFill>
                <a:latin typeface="Calibri"/>
              </a:rPr>
              <a:t>After the Lead shows the comparison, copy and paste Prompt B.</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it as Rachel  </a:t>
            </a:r>
            <a:r>
              <a:rPr sz="1300">
                <a:solidFill>
                  <a:srgbClr val="6B6862"/>
                </a:solidFill>
                <a:latin typeface="Calibri"/>
              </a:rPr>
              <a:t>Add one rule of your own and say why.</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Propose and version a change  </a:t>
            </a:r>
            <a:r>
              <a:rPr sz="1300">
                <a:solidFill>
                  <a:srgbClr val="6B6862"/>
                </a:solidFill>
                <a:latin typeface="Calibri"/>
              </a:rPr>
              <a:t>After you have added your rule, copy and paste Prompt C. Claude saves version 1.0, makes one change, tests it and saves 1.1.</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Compare the versions  </a:t>
            </a:r>
            <a:r>
              <a:rPr sz="1300">
                <a:solidFill>
                  <a:srgbClr val="6B6862"/>
                </a:solidFill>
                <a:latin typeface="Calibri"/>
              </a:rPr>
              <a:t>Read what changed between 1.0 and 1.1. If a check failed, ask: "Roll back to version 1.0."</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version and propose a change</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Keep a version history of this folder (use git; set it up if it is not there yet). Save everything as version 1.0 with the note "The team as built in class". From reports/agent-comparison.md and data/run-log.csv, propose ONE change to how the team works. Write review/change-proposal.md: what we saw, the change, the files it touches, how we test it, the risk, who approves, and how we roll back. Make the change, test it on one recent piece with fact-check and fin-compliance, and save version 1.1 with a one-line note. Show me what changed between</a:t>
            </a:r>
          </a:p>
          <a:p>
            <a:pPr>
              <a:lnSpc>
                <a:spcPct val="110000"/>
              </a:lnSpc>
              <a:defRPr sz="1700" b="0">
                <a:solidFill>
                  <a:srgbClr val="21201C"/>
                </a:solidFill>
                <a:latin typeface="Calibri"/>
              </a:defRPr>
            </a:pPr>
            <a:r>
              <a:t>1.0 and 1.1, and how to go back to 1.0. Publish the proposal and the version history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In plain English, what changed in version 1.1, and how would we undo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21476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169049"/>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62233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57661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029891"/>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3984171"/>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443745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39173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
        <p:nvSpPr>
          <p:cNvPr id="21" name="Oval 20"/>
          <p:cNvSpPr/>
          <p:nvPr/>
        </p:nvSpPr>
        <p:spPr>
          <a:xfrm>
            <a:off x="841248" y="484501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479929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Versions 1.0 and 1.1 are saved, each with a note.</a:t>
            </a:r>
          </a:p>
        </p:txBody>
      </p:sp>
      <p:sp>
        <p:nvSpPr>
          <p:cNvPr id="23" name="Oval 22"/>
          <p:cNvSpPr/>
          <p:nvPr/>
        </p:nvSpPr>
        <p:spPr>
          <a:xfrm>
            <a:off x="841248" y="5252574"/>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4" name="TextBox 23"/>
          <p:cNvSpPr txBox="1"/>
          <p:nvPr/>
        </p:nvSpPr>
        <p:spPr>
          <a:xfrm>
            <a:off x="1280160" y="520685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change proposal has the evidence, the test, the risk and the roll-back.</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167</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169</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the decision page shows their debate.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172</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580" b="0">
                <a:solidFill>
                  <a:srgbClr val="21201C"/>
                </a:solidFill>
                <a:latin typeface="Calibri"/>
              </a:defRPr>
            </a:pPr>
            <a:r>
              <a:t>- advocate, using the agent type growth-strategist:</a:t>
            </a:r>
          </a:p>
          <a:p>
            <a:pPr>
              <a:lnSpc>
                <a:spcPct val="110000"/>
              </a:lnSpc>
              <a:defRPr sz="1580" b="0">
                <a:solidFill>
                  <a:srgbClr val="21201C"/>
                </a:solidFill>
                <a:latin typeface="Calibri"/>
              </a:defRPr>
            </a:pPr>
            <a:r>
              <a:t>  argue FOR the strategy.</a:t>
            </a:r>
          </a:p>
          <a:p>
            <a:pPr>
              <a:lnSpc>
                <a:spcPct val="110000"/>
              </a:lnSpc>
              <a:defRPr sz="1580" b="0">
                <a:solidFill>
                  <a:srgbClr val="21201C"/>
                </a:solidFill>
                <a:latin typeface="Calibri"/>
              </a:defRPr>
            </a:pPr>
            <a:r>
              <a:t>- critic, using the agent type growth-analyst:</a:t>
            </a:r>
          </a:p>
          <a:p>
            <a:pPr>
              <a:lnSpc>
                <a:spcPct val="110000"/>
              </a:lnSpc>
              <a:defRPr sz="1580" b="0">
                <a:solidFill>
                  <a:srgbClr val="21201C"/>
                </a:solidFill>
                <a:latin typeface="Calibri"/>
              </a:defRPr>
            </a:pPr>
            <a:r>
              <a:t>  argue AGAINST it.</a:t>
            </a:r>
          </a:p>
          <a:p>
            <a:pPr>
              <a:lnSpc>
                <a:spcPct val="110000"/>
              </a:lnSpc>
              <a:defRPr sz="158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58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the debate (the messages the advocate and critic sent each other, in order)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173</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BEST PRACTICES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Integration Best Practices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Ten habits from the course — each one a control you built.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PRACTICE</a:t>
            </a:r>
          </a:p>
        </p:txBody>
      </p:sp>
      <p:sp>
        <p:nvSpPr>
          <p:cNvPr id="10" name="TextBox 9"/>
          <p:cNvSpPr txBox="1"/>
          <p:nvPr/>
        </p:nvSpPr>
        <p:spPr>
          <a:xfrm>
            <a:off x="451164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WHY</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Assess compatibility first</a:t>
            </a:r>
          </a:p>
        </p:txBody>
      </p:sp>
      <p:sp>
        <p:nvSpPr>
          <p:cNvPr id="14" name="TextBox 13"/>
          <p:cNvSpPr txBox="1"/>
          <p:nvPr/>
        </p:nvSpPr>
        <p:spPr>
          <a:xfrm>
            <a:off x="4511649" y="2560320"/>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connection can work and still be wrong</a:t>
            </a:r>
          </a:p>
        </p:txBody>
      </p:sp>
      <p:sp>
        <p:nvSpPr>
          <p:cNvPr id="15" name="TextBox 14"/>
          <p:cNvSpPr txBox="1"/>
          <p:nvPr/>
        </p:nvSpPr>
        <p:spPr>
          <a:xfrm>
            <a:off x="8937345" y="2560320"/>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16" name="TextBox 15"/>
          <p:cNvSpPr txBox="1"/>
          <p:nvPr/>
        </p:nvSpPr>
        <p:spPr>
          <a:xfrm>
            <a:off x="749808" y="3009682"/>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Least privilege per agent</a:t>
            </a:r>
          </a:p>
        </p:txBody>
      </p:sp>
      <p:sp>
        <p:nvSpPr>
          <p:cNvPr id="17" name="TextBox 16"/>
          <p:cNvSpPr txBox="1"/>
          <p:nvPr/>
        </p:nvSpPr>
        <p:spPr>
          <a:xfrm>
            <a:off x="4511649" y="3009682"/>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 agent cannot misuse what it cannot reach</a:t>
            </a:r>
          </a:p>
        </p:txBody>
      </p:sp>
      <p:sp>
        <p:nvSpPr>
          <p:cNvPr id="18" name="TextBox 17"/>
          <p:cNvSpPr txBox="1"/>
          <p:nvPr/>
        </p:nvSpPr>
        <p:spPr>
          <a:xfrm>
            <a:off x="8937345" y="3009682"/>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Draft, never send</a:t>
            </a:r>
          </a:p>
        </p:txBody>
      </p:sp>
      <p:sp>
        <p:nvSpPr>
          <p:cNvPr id="21" name="TextBox 20"/>
          <p:cNvSpPr txBox="1"/>
          <p:nvPr/>
        </p:nvSpPr>
        <p:spPr>
          <a:xfrm>
            <a:off x="4511649" y="3459044"/>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person sends and publishes</a:t>
            </a:r>
          </a:p>
        </p:txBody>
      </p:sp>
      <p:sp>
        <p:nvSpPr>
          <p:cNvPr id="22" name="TextBox 21"/>
          <p:cNvSpPr txBox="1"/>
          <p:nvPr/>
        </p:nvSpPr>
        <p:spPr>
          <a:xfrm>
            <a:off x="8937345" y="3459044"/>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9–13</a:t>
            </a:r>
          </a:p>
        </p:txBody>
      </p:sp>
      <p:sp>
        <p:nvSpPr>
          <p:cNvPr id="23" name="TextBox 22"/>
          <p:cNvSpPr txBox="1"/>
          <p:nvPr/>
        </p:nvSpPr>
        <p:spPr>
          <a:xfrm>
            <a:off x="749808" y="3908406"/>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Dry run before live</a:t>
            </a:r>
          </a:p>
        </p:txBody>
      </p:sp>
      <p:sp>
        <p:nvSpPr>
          <p:cNvPr id="24" name="TextBox 23"/>
          <p:cNvSpPr txBox="1"/>
          <p:nvPr/>
        </p:nvSpPr>
        <p:spPr>
          <a:xfrm>
            <a:off x="4511649" y="3908406"/>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See the exact request first</a:t>
            </a:r>
          </a:p>
        </p:txBody>
      </p:sp>
      <p:sp>
        <p:nvSpPr>
          <p:cNvPr id="25" name="TextBox 24"/>
          <p:cNvSpPr txBox="1"/>
          <p:nvPr/>
        </p:nvSpPr>
        <p:spPr>
          <a:xfrm>
            <a:off x="8937345" y="3908406"/>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12</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human gate a hook enforces</a:t>
            </a:r>
          </a:p>
        </p:txBody>
      </p:sp>
      <p:sp>
        <p:nvSpPr>
          <p:cNvPr id="28" name="TextBox 27"/>
          <p:cNvSpPr txBox="1"/>
          <p:nvPr/>
        </p:nvSpPr>
        <p:spPr>
          <a:xfrm>
            <a:off x="4511649" y="4357769"/>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prompt persuades; a hook holds</a:t>
            </a:r>
          </a:p>
        </p:txBody>
      </p:sp>
      <p:sp>
        <p:nvSpPr>
          <p:cNvPr id="29" name="TextBox 28"/>
          <p:cNvSpPr txBox="1"/>
          <p:nvPr/>
        </p:nvSpPr>
        <p:spPr>
          <a:xfrm>
            <a:off x="8937345" y="4357769"/>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30" name="TextBox 29"/>
          <p:cNvSpPr txBox="1"/>
          <p:nvPr/>
        </p:nvSpPr>
        <p:spPr>
          <a:xfrm>
            <a:off x="749808" y="4807131"/>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Test with known answers</a:t>
            </a:r>
          </a:p>
        </p:txBody>
      </p:sp>
      <p:sp>
        <p:nvSpPr>
          <p:cNvPr id="31" name="TextBox 30"/>
          <p:cNvSpPr txBox="1"/>
          <p:nvPr/>
        </p:nvSpPr>
        <p:spPr>
          <a:xfrm>
            <a:off x="4511649" y="4807131"/>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31 of 40, under 90 s, facts-sheet figures</a:t>
            </a:r>
          </a:p>
        </p:txBody>
      </p:sp>
      <p:sp>
        <p:nvSpPr>
          <p:cNvPr id="32" name="TextBox 31"/>
          <p:cNvSpPr txBox="1"/>
          <p:nvPr/>
        </p:nvSpPr>
        <p:spPr>
          <a:xfrm>
            <a:off x="8937345" y="4807131"/>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6–12</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Version, change one thing, roll back</a:t>
            </a:r>
          </a:p>
        </p:txBody>
      </p:sp>
      <p:sp>
        <p:nvSpPr>
          <p:cNvPr id="35" name="TextBox 34"/>
          <p:cNvSpPr txBox="1"/>
          <p:nvPr/>
        </p:nvSpPr>
        <p:spPr>
          <a:xfrm>
            <a:off x="4511649" y="5256493"/>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change can be compared and undone</a:t>
            </a:r>
          </a:p>
        </p:txBody>
      </p:sp>
      <p:sp>
        <p:nvSpPr>
          <p:cNvPr id="36" name="TextBox 35"/>
          <p:cNvSpPr txBox="1"/>
          <p:nvPr/>
        </p:nvSpPr>
        <p:spPr>
          <a:xfrm>
            <a:off x="8937345" y="5256493"/>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14</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Also: keys only in .env, client data out of prompts, pause routines you are not using.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178</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Integrated and Tested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three learning outcomes.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Assess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Systems, components and interfaces; a compatibility matrix (LO1).</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Integrate</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Six agents with instructions, skills and connectors (LO1).</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Seven campaigns, each with a known answer (LO2).</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Troubleshoot</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 the sign, isolate, fix one thing, retest (LO2).</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Version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versioned playbook and a change proposal (LO3).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3154679"/>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3291839"/>
            <a:ext cx="274320" cy="274320"/>
          </a:xfrm>
          <a:prstGeom prst="rect">
            <a:avLst/>
          </a:prstGeom>
        </p:spPr>
      </p:pic>
      <p:sp>
        <p:nvSpPr>
          <p:cNvPr id="7" name="Text 4"/>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3520439"/>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1" name="Text 7"/>
          <p:cNvSpPr/>
          <p:nvPr/>
        </p:nvSpPr>
        <p:spPr>
          <a:xfrm>
            <a:off x="1371600" y="4160519"/>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2240280"/>
            <a:ext cx="274320" cy="274320"/>
          </a:xfrm>
          <a:prstGeom prst="rect">
            <a:avLst/>
          </a:prstGeom>
        </p:spPr>
      </p:pic>
      <p:sp>
        <p:nvSpPr>
          <p:cNvPr id="15" name="Text 10"/>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56539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92" name="TextBox 91"/>
          <p:cNvSpPr txBox="1"/>
          <p:nvPr/>
        </p:nvSpPr>
        <p:spPr>
          <a:xfrm>
            <a:off x="11365992" y="656539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180</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181</a:t>
            </a:r>
            <a:endParaRPr lang="en-US" sz="9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Claude Cowork for Digital Marketing · TGS-2023018659</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182</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3:30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1.5 hours</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183</a:t>
            </a:r>
            <a:endParaRPr lang="en-US" sz="9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Claude Cowork for Digital Marketing · TGS-2023018659</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Cowork for Digital Marketing (TGS-2023018659)</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10.0 — 11 October 2026</dc:description>
</cp:coreProperties>
</file>